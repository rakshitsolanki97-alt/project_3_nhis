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60" r:id="rId4"/>
    <p:sldId id="266" r:id="rId5"/>
    <p:sldId id="262" r:id="rId6"/>
    <p:sldId id="274" r:id="rId7"/>
    <p:sldId id="275" r:id="rId8"/>
    <p:sldId id="276" r:id="rId9"/>
    <p:sldId id="277" r:id="rId10"/>
    <p:sldId id="278" r:id="rId11"/>
    <p:sldId id="279" r:id="rId12"/>
    <p:sldId id="267" r:id="rId13"/>
    <p:sldId id="268" r:id="rId14"/>
    <p:sldId id="269" r:id="rId15"/>
    <p:sldId id="270" r:id="rId16"/>
    <p:sldId id="271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E765B-DFF1-4DF1-9CB8-8DC623F361CF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C56330-8C0F-4B00-BC67-6D5B72336D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760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skills.com/Excel/Resources/Pivot-table-tutorial" TargetMode="External"/><Relationship Id="rId2" Type="http://schemas.openxmlformats.org/officeDocument/2006/relationships/hyperlink" Target="https://www.geeksforgeeks.org/data-analysis/eda-with-numpy-pandas-matplotlib-seaborn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474" y="729343"/>
            <a:ext cx="10804848" cy="5746102"/>
          </a:xfrm>
        </p:spPr>
        <p:txBody>
          <a:bodyPr anchor="t"/>
          <a:lstStyle/>
          <a:p>
            <a:pPr algn="ctr"/>
            <a: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Project-3</a:t>
            </a:r>
            <a:b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Large Dataset Analysis</a:t>
            </a:r>
            <a:b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NextHikes</a:t>
            </a:r>
            <a: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Solutions</a:t>
            </a:r>
            <a:b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- Rakshit A Solanki</a:t>
            </a:r>
          </a:p>
        </p:txBody>
      </p:sp>
    </p:spTree>
    <p:extLst>
      <p:ext uri="{BB962C8B-B14F-4D97-AF65-F5344CB8AC3E}">
        <p14:creationId xmlns:p14="http://schemas.microsoft.com/office/powerpoint/2010/main" val="84983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65781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543466"/>
            <a:ext cx="10862266" cy="4195481"/>
          </a:xfrm>
        </p:spPr>
        <p:txBody>
          <a:bodyPr>
            <a:normAutofit fontScale="775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based on analyzing retail sales data to understand how different factors affect business performance.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focus is on identifying patterns in sales, Pricing &amp; Customer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includes Product price, Final price, Quantity, Discount &amp; Customer segment.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shows how data analysis can help businesses make better and smarter decision.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30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374341"/>
            <a:ext cx="10927580" cy="1400530"/>
          </a:xfrm>
        </p:spPr>
        <p:txBody>
          <a:bodyPr/>
          <a:lstStyle/>
          <a:p>
            <a:pPr algn="ctr"/>
            <a:r>
              <a:rPr lang="en-US" altLang="en-GB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386712"/>
            <a:ext cx="10927580" cy="517084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data Analysis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this project is to study how sales are happening and what factors are affecting them.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identifying important trends and patterns in the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Patterns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finding relationship between variables such as Price, Quantity &amp; Category.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in understanding customer buying behavior more clearly.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improvement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insights generated from the analysis can be used to improve business strategies and make better decision in the future.</a:t>
            </a:r>
          </a:p>
        </p:txBody>
      </p:sp>
    </p:spTree>
    <p:extLst>
      <p:ext uri="{BB962C8B-B14F-4D97-AF65-F5344CB8AC3E}">
        <p14:creationId xmlns:p14="http://schemas.microsoft.com/office/powerpoint/2010/main" val="4245141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6833" y="1608781"/>
            <a:ext cx="10749055" cy="443745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checked for missing values and it was mostly clean.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major issues were found in the data.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Conversion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date column was converted into datetime format.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in performing time based analysis.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cleaning the dataset was ready for analysis.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step ensures accurate results.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46111" y="456445"/>
            <a:ext cx="10718575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</p:txBody>
      </p:sp>
    </p:spTree>
    <p:extLst>
      <p:ext uri="{BB962C8B-B14F-4D97-AF65-F5344CB8AC3E}">
        <p14:creationId xmlns:p14="http://schemas.microsoft.com/office/powerpoint/2010/main" val="7689868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10783889" cy="1400530"/>
          </a:xfrm>
        </p:spPr>
        <p:txBody>
          <a:bodyPr/>
          <a:lstStyle/>
          <a:p>
            <a:pPr algn="ctr"/>
            <a:r>
              <a:rPr lang="en-US" altLang="en-GB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  <a:endParaRPr lang="en-US" sz="4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99314" y="1782133"/>
            <a:ext cx="609600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2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histogram shows that most products are concentrated in the mid price range.</a:t>
            </a:r>
          </a:p>
          <a:p>
            <a:pPr marL="342900" indent="-342900" algn="just">
              <a:spcAft>
                <a:spcPts val="2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few products are present in the higher price range.</a:t>
            </a:r>
          </a:p>
          <a:p>
            <a:pPr marL="342900" indent="-342900" algn="just">
              <a:spcAft>
                <a:spcPts val="2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is slightly uneven &amp; showing variation in pricing across products.</a:t>
            </a:r>
          </a:p>
          <a:p>
            <a:pPr marL="342900" indent="-342900" algn="just">
              <a:spcAft>
                <a:spcPts val="2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visualization helps in identifying common price ranges and overall pricing pattern.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F2491C-2EFD-6F30-FB68-CB707440426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85192" y="1974557"/>
            <a:ext cx="4680000" cy="396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A888F2-4D96-08EC-1E6E-958D2855A159}"/>
              </a:ext>
            </a:extLst>
          </p:cNvPr>
          <p:cNvSpPr txBox="1"/>
          <p:nvPr/>
        </p:nvSpPr>
        <p:spPr>
          <a:xfrm>
            <a:off x="485191" y="1314773"/>
            <a:ext cx="4693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Price Distribution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103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6551D-E009-E16E-4CFB-A7E81FA48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5B3D6-07C3-5DF4-BF2E-4E1EC776B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783889" cy="1400530"/>
          </a:xfrm>
        </p:spPr>
        <p:txBody>
          <a:bodyPr/>
          <a:lstStyle/>
          <a:p>
            <a:pPr algn="ctr"/>
            <a:r>
              <a:rPr lang="en-US" altLang="en-GB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  <a:endParaRPr lang="en-US" sz="4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CED250-A0BE-3D7A-9904-D69DA9C51A59}"/>
              </a:ext>
            </a:extLst>
          </p:cNvPr>
          <p:cNvSpPr/>
          <p:nvPr/>
        </p:nvSpPr>
        <p:spPr>
          <a:xfrm>
            <a:off x="5399314" y="1792310"/>
            <a:ext cx="6096000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2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clearly shows that the number of non returned products is significantly higher than returned products.</a:t>
            </a:r>
          </a:p>
          <a:p>
            <a:pPr marL="342900" indent="-342900" algn="just">
              <a:spcAft>
                <a:spcPts val="2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a small portion of products fall under the returned category.</a:t>
            </a:r>
          </a:p>
          <a:p>
            <a:pPr marL="342900" indent="-342900" algn="just">
              <a:spcAft>
                <a:spcPts val="2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Returned products may represents issues related to product quality, deliver or customer expectations.</a:t>
            </a:r>
          </a:p>
          <a:p>
            <a:pPr marL="342900" indent="-342900" algn="just">
              <a:spcAft>
                <a:spcPts val="2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helps in reducing losses and improving services.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3DC6D2-0B2C-999B-3523-2F92CC3F692D}"/>
              </a:ext>
            </a:extLst>
          </p:cNvPr>
          <p:cNvPicPr>
            <a:picLocks/>
          </p:cNvPicPr>
          <p:nvPr/>
        </p:nvPicPr>
        <p:blipFill>
          <a:blip r:embed="rId2"/>
          <a:srcRect/>
          <a:stretch/>
        </p:blipFill>
        <p:spPr>
          <a:xfrm>
            <a:off x="485192" y="1959046"/>
            <a:ext cx="4680000" cy="396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4EF0D0-52BD-999A-AB0D-6F7E9CC8BD17}"/>
              </a:ext>
            </a:extLst>
          </p:cNvPr>
          <p:cNvSpPr txBox="1"/>
          <p:nvPr/>
        </p:nvSpPr>
        <p:spPr>
          <a:xfrm>
            <a:off x="485191" y="1314778"/>
            <a:ext cx="4693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Status Analysis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708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F2D3F-9B21-C17A-C7AA-389E92E20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BB1AD-9DBC-27D3-5DA1-51F40E630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783889" cy="1400530"/>
          </a:xfrm>
        </p:spPr>
        <p:txBody>
          <a:bodyPr/>
          <a:lstStyle/>
          <a:p>
            <a:pPr algn="ctr"/>
            <a:r>
              <a:rPr lang="en-US" altLang="en-GB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  <a:endParaRPr lang="en-US" sz="4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D814D7-123D-FA46-9E54-E736C321622B}"/>
              </a:ext>
            </a:extLst>
          </p:cNvPr>
          <p:cNvSpPr/>
          <p:nvPr/>
        </p:nvSpPr>
        <p:spPr>
          <a:xfrm>
            <a:off x="5429833" y="1734660"/>
            <a:ext cx="6096000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2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box plot shows the overall distribution of final price values along with the median and spread.</a:t>
            </a:r>
          </a:p>
          <a:p>
            <a:pPr marL="342900" marR="0" lvl="0" indent="-342900" algn="just">
              <a:spcAft>
                <a:spcPts val="2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and upper bounds are calculated using IQR method to identify extreme values.</a:t>
            </a:r>
          </a:p>
          <a:p>
            <a:pPr marL="342900" marR="0" lvl="0" indent="-342900" algn="just">
              <a:spcAft>
                <a:spcPts val="2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 the data lies within the defined range while only few values fall outside.</a:t>
            </a:r>
          </a:p>
          <a:p>
            <a:pPr marL="342900" marR="0" lvl="0" indent="-342900" algn="just">
              <a:spcAft>
                <a:spcPts val="2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extreme values may represent very high priced products or unusual transactions.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087201-5FB4-97B6-7691-481D7E263844}"/>
              </a:ext>
            </a:extLst>
          </p:cNvPr>
          <p:cNvPicPr>
            <a:picLocks/>
          </p:cNvPicPr>
          <p:nvPr/>
        </p:nvPicPr>
        <p:blipFill>
          <a:blip r:embed="rId2"/>
          <a:srcRect/>
          <a:stretch/>
        </p:blipFill>
        <p:spPr>
          <a:xfrm>
            <a:off x="485191" y="1940852"/>
            <a:ext cx="4680000" cy="396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ADD2EE-7E31-A1B1-10C6-7C2FA7FB5705}"/>
              </a:ext>
            </a:extLst>
          </p:cNvPr>
          <p:cNvSpPr txBox="1"/>
          <p:nvPr/>
        </p:nvSpPr>
        <p:spPr>
          <a:xfrm>
            <a:off x="485191" y="1296124"/>
            <a:ext cx="4693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915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C0A34-48D8-86B5-3FDC-145C18741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0969-AD61-1F69-E122-52E91E48E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783889" cy="1400530"/>
          </a:xfrm>
        </p:spPr>
        <p:txBody>
          <a:bodyPr/>
          <a:lstStyle/>
          <a:p>
            <a:pPr algn="ctr"/>
            <a:r>
              <a:rPr lang="en-US" altLang="en-GB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  <a:endParaRPr lang="en-US" sz="4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24BC00-5CDD-D731-1B5C-CD38F45FA18F}"/>
              </a:ext>
            </a:extLst>
          </p:cNvPr>
          <p:cNvSpPr/>
          <p:nvPr/>
        </p:nvSpPr>
        <p:spPr>
          <a:xfrm>
            <a:off x="5430027" y="1734655"/>
            <a:ext cx="6096000" cy="492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2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scatter plot shows a clear upward trend &amp; indicating a strong positive relationship between the two variables.</a:t>
            </a:r>
          </a:p>
          <a:p>
            <a:pPr marL="342900" indent="-342900" algn="just">
              <a:spcAft>
                <a:spcPts val="2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data points are closely aligned which shows that final price generally follows the original product price.</a:t>
            </a:r>
          </a:p>
          <a:p>
            <a:pPr marL="342900" indent="-342900" algn="just">
              <a:spcAft>
                <a:spcPts val="2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variations in points indicates the presence of discounts applied to products.</a:t>
            </a:r>
          </a:p>
          <a:p>
            <a:pPr marL="342900" indent="-342900" algn="just">
              <a:spcAft>
                <a:spcPts val="2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visualization helps in understanding how pricing and discount strategies are applied across products.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73B3EF-8087-955D-DDEE-1850589AF9BE}"/>
              </a:ext>
            </a:extLst>
          </p:cNvPr>
          <p:cNvPicPr>
            <a:picLocks/>
          </p:cNvPicPr>
          <p:nvPr/>
        </p:nvPicPr>
        <p:blipFill>
          <a:blip r:embed="rId2"/>
          <a:srcRect/>
          <a:stretch/>
        </p:blipFill>
        <p:spPr>
          <a:xfrm>
            <a:off x="485192" y="1940769"/>
            <a:ext cx="4680000" cy="396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E6346D-FF61-52F8-E86F-BDCEABF8ECCC}"/>
              </a:ext>
            </a:extLst>
          </p:cNvPr>
          <p:cNvSpPr txBox="1"/>
          <p:nvPr/>
        </p:nvSpPr>
        <p:spPr>
          <a:xfrm>
            <a:off x="485191" y="1296126"/>
            <a:ext cx="4693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Price &amp; Final Price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489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A28CE-DF1E-DB0C-6A52-42A30AE0B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4B985-DE60-29B9-2CE0-9AA11E54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783889" cy="1400530"/>
          </a:xfrm>
        </p:spPr>
        <p:txBody>
          <a:bodyPr/>
          <a:lstStyle/>
          <a:p>
            <a:pPr algn="ctr"/>
            <a:r>
              <a:rPr lang="en-US" altLang="en-GB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  <a:endParaRPr lang="en-US" sz="4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6B0AD7-F49C-0A9D-BA83-C28C3A7BFBAB}"/>
              </a:ext>
            </a:extLst>
          </p:cNvPr>
          <p:cNvSpPr/>
          <p:nvPr/>
        </p:nvSpPr>
        <p:spPr>
          <a:xfrm>
            <a:off x="5458408" y="1762646"/>
            <a:ext cx="6096000" cy="492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2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shows that some shipping types are used more frequently  compared to others.</a:t>
            </a:r>
          </a:p>
          <a:p>
            <a:pPr marL="342900" indent="-342900" algn="just">
              <a:spcAft>
                <a:spcPts val="2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higher count in certain shipping methods indicates customer preference for those points.</a:t>
            </a:r>
          </a:p>
          <a:p>
            <a:pPr marL="342900" indent="-342900" algn="just">
              <a:spcAft>
                <a:spcPts val="2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variation in distribution highlights differences in delivery choices among customers.</a:t>
            </a:r>
          </a:p>
          <a:p>
            <a:pPr marL="342900" indent="-342900" algn="just">
              <a:spcAft>
                <a:spcPts val="2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visualization helps in identifying the most efficient &amp; commonly used shipping methods.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7AD5A7-7743-FFC0-ABB3-606E2A72AABA}"/>
              </a:ext>
            </a:extLst>
          </p:cNvPr>
          <p:cNvPicPr>
            <a:picLocks/>
          </p:cNvPicPr>
          <p:nvPr/>
        </p:nvPicPr>
        <p:blipFill>
          <a:blip r:embed="rId2"/>
          <a:srcRect/>
          <a:stretch/>
        </p:blipFill>
        <p:spPr>
          <a:xfrm>
            <a:off x="485192" y="1978093"/>
            <a:ext cx="4680000" cy="396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C06ED17-B818-FF87-563D-E63A7128AE17}"/>
              </a:ext>
            </a:extLst>
          </p:cNvPr>
          <p:cNvSpPr txBox="1"/>
          <p:nvPr/>
        </p:nvSpPr>
        <p:spPr>
          <a:xfrm>
            <a:off x="485191" y="1314783"/>
            <a:ext cx="4693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Shipping Types &amp; Delivery days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767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5D817-5AF5-9ABE-6191-1A83FE762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DC136-68D4-A5C3-0E04-561DCC37A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783889" cy="1400530"/>
          </a:xfrm>
        </p:spPr>
        <p:txBody>
          <a:bodyPr/>
          <a:lstStyle/>
          <a:p>
            <a:pPr algn="ctr"/>
            <a:r>
              <a:rPr lang="en-US" altLang="en-GB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  <a:endParaRPr lang="en-US" sz="4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24C6B5-EB08-8053-369D-8B65E75132AC}"/>
              </a:ext>
            </a:extLst>
          </p:cNvPr>
          <p:cNvSpPr/>
          <p:nvPr/>
        </p:nvSpPr>
        <p:spPr>
          <a:xfrm>
            <a:off x="5458408" y="1781304"/>
            <a:ext cx="6096000" cy="492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2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shows that different customer segments have varying contributions to total sales.</a:t>
            </a:r>
          </a:p>
          <a:p>
            <a:pPr marL="342900" indent="-342900" algn="just">
              <a:spcAft>
                <a:spcPts val="2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segments have higher values &amp; indicating customers with greater spending capacity.</a:t>
            </a:r>
          </a:p>
          <a:p>
            <a:pPr marL="342900" indent="-342900" algn="just">
              <a:spcAft>
                <a:spcPts val="2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segments represent customer with less frequent or lower value purchases.</a:t>
            </a:r>
          </a:p>
          <a:p>
            <a:pPr marL="342900" indent="-342900" algn="just">
              <a:spcAft>
                <a:spcPts val="20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visualization helps in identifying high value customers and targeting them effectively.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50614E-8A45-EFF5-E0B6-A5F3AC11F11F}"/>
              </a:ext>
            </a:extLst>
          </p:cNvPr>
          <p:cNvPicPr>
            <a:picLocks/>
          </p:cNvPicPr>
          <p:nvPr/>
        </p:nvPicPr>
        <p:blipFill>
          <a:blip r:embed="rId2"/>
          <a:srcRect/>
          <a:stretch/>
        </p:blipFill>
        <p:spPr>
          <a:xfrm>
            <a:off x="485193" y="1982149"/>
            <a:ext cx="4680000" cy="396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2604F6-9408-8D4C-2A79-A1CAFC805A66}"/>
              </a:ext>
            </a:extLst>
          </p:cNvPr>
          <p:cNvSpPr txBox="1"/>
          <p:nvPr/>
        </p:nvSpPr>
        <p:spPr>
          <a:xfrm>
            <a:off x="485191" y="1314776"/>
            <a:ext cx="4693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 Analysis</a:t>
            </a: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243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F0B03-7635-3170-0490-7F6A541AD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EEC4F-B477-6AFA-C958-68AA1E931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374341"/>
            <a:ext cx="10927580" cy="1400530"/>
          </a:xfrm>
        </p:spPr>
        <p:txBody>
          <a:bodyPr/>
          <a:lstStyle/>
          <a:p>
            <a:pPr algn="ctr"/>
            <a:r>
              <a:rPr lang="en-US" altLang="en-GB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Skewness &amp; Kurtosis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CD787-4F1C-31C6-F692-978E3CC81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377389"/>
            <a:ext cx="10927580" cy="53126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Skewness Analysis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skewness value shows that data is slightly shifted to one side.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values are present in a particular range.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few values are spread towards the extreme side.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Kurtosis Analysis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kurtosis value shows that most product prices are grouped in a certain range.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same time some products have very high or very low prices compared to others.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alt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the pricing is not completely uniform across all products.</a:t>
            </a:r>
          </a:p>
        </p:txBody>
      </p:sp>
    </p:spTree>
    <p:extLst>
      <p:ext uri="{BB962C8B-B14F-4D97-AF65-F5344CB8AC3E}">
        <p14:creationId xmlns:p14="http://schemas.microsoft.com/office/powerpoint/2010/main" val="1571509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10783889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1457635"/>
            <a:ext cx="10783888" cy="5232414"/>
          </a:xfrm>
        </p:spPr>
        <p:txBody>
          <a:bodyPr>
            <a:normAutofit/>
          </a:bodyPr>
          <a:lstStyle/>
          <a:p>
            <a:pPr lvl="0" algn="just"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shows that product prices follow a particular pattern with most values in a fixed range.</a:t>
            </a:r>
          </a:p>
          <a:p>
            <a:pPr lvl="0" algn="just"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product categories have higher number of products and better performance compared to others.</a:t>
            </a:r>
          </a:p>
          <a:p>
            <a:pPr lvl="0" algn="just"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segments show different buying behavior based on their activity and contribution.</a:t>
            </a:r>
          </a:p>
          <a:p>
            <a:pPr lvl="0" algn="just"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extreme values are observed in price and quantity which affect the overall data distribution.</a:t>
            </a:r>
          </a:p>
          <a:p>
            <a:pPr lvl="0" algn="just"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data indicates that majority of products are not returned by customers.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146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10888392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1459499"/>
            <a:ext cx="10888391" cy="4195481"/>
          </a:xfrm>
        </p:spPr>
        <p:txBody>
          <a:bodyPr>
            <a:noAutofit/>
          </a:bodyPr>
          <a:lstStyle/>
          <a:p>
            <a:pPr algn="just"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pricing has a direct impact on demand as most customer prefer products in a certain price range.</a:t>
            </a:r>
          </a:p>
          <a:p>
            <a:pPr algn="just"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shows that different customer segments behave differently in terms of purchasing and spending.</a:t>
            </a:r>
          </a:p>
          <a:p>
            <a:pPr algn="just"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product categories perform better and contribute more to overall sales.</a:t>
            </a:r>
          </a:p>
          <a:p>
            <a:pPr algn="just"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analysis indicates that most products meet customer expectations.</a:t>
            </a:r>
          </a:p>
          <a:p>
            <a:pPr algn="just"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 in pricing and sales show that not all products perform equally. </a:t>
            </a:r>
          </a:p>
        </p:txBody>
      </p:sp>
    </p:spTree>
    <p:extLst>
      <p:ext uri="{BB962C8B-B14F-4D97-AF65-F5344CB8AC3E}">
        <p14:creationId xmlns:p14="http://schemas.microsoft.com/office/powerpoint/2010/main" val="1490007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10836140" cy="1195251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During Analysis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647969"/>
            <a:ext cx="10836140" cy="4195481"/>
          </a:xfrm>
        </p:spPr>
        <p:txBody>
          <a:bodyPr>
            <a:noAutofit/>
          </a:bodyPr>
          <a:lstStyle/>
          <a:p>
            <a:pPr algn="just"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columns had different data types so formatting and conversion was required before analysis.</a:t>
            </a:r>
          </a:p>
          <a:p>
            <a:pPr algn="just"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column needed to be converted into proper format for time based analysis.</a:t>
            </a:r>
          </a:p>
          <a:p>
            <a:pPr algn="just"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creating charts it was important to check whether the visualization was correctly representing the data.</a:t>
            </a:r>
          </a:p>
          <a:p>
            <a:pPr algn="just"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variations and extreme values made the analysis slightly complex.</a:t>
            </a:r>
          </a:p>
          <a:p>
            <a:pPr algn="just"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checks were required at different steps to ensure the accuracy of results.</a:t>
            </a:r>
          </a:p>
        </p:txBody>
      </p:sp>
    </p:spTree>
    <p:extLst>
      <p:ext uri="{BB962C8B-B14F-4D97-AF65-F5344CB8AC3E}">
        <p14:creationId xmlns:p14="http://schemas.microsoft.com/office/powerpoint/2010/main" val="1703476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10796952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1621843"/>
            <a:ext cx="10796951" cy="4195481"/>
          </a:xfrm>
        </p:spPr>
        <p:txBody>
          <a:bodyPr>
            <a:normAutofit/>
          </a:bodyPr>
          <a:lstStyle/>
          <a:p>
            <a:pPr algn="just"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helped in analyzing retail data and understanding how different factors affect sales and pricing.</a:t>
            </a:r>
          </a:p>
          <a:p>
            <a:pPr algn="just"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helped in clearly understanding the distribution and relationship in the data.</a:t>
            </a:r>
          </a:p>
          <a:p>
            <a:pPr algn="just"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variation and extreme values were also identified during the analysis project.</a:t>
            </a:r>
          </a:p>
          <a:p>
            <a:pPr algn="just"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the project shows how data analysis can be useful in improving business decision and performance.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895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10888392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Links Used For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716005"/>
            <a:ext cx="10888392" cy="419548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https://www.geeksforgeeks.org/data-analysis/eda-with-numpy-pandas-matplotlib-seaborn/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spcBef>
                <a:spcPts val="0"/>
              </a:spcBef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https://pandas.pydata.org/docs/</a:t>
            </a:r>
          </a:p>
          <a:p>
            <a:pPr>
              <a:spcBef>
                <a:spcPts val="0"/>
              </a:spcBef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https://numpy.org/doc/</a:t>
            </a:r>
          </a:p>
          <a:p>
            <a:pPr>
              <a:spcBef>
                <a:spcPts val="0"/>
              </a:spcBef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https://seaborn.pydata.org/</a:t>
            </a:r>
          </a:p>
          <a:p>
            <a:pPr>
              <a:spcBef>
                <a:spcPts val="0"/>
              </a:spcBef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https://matplotlib.org/stable/</a:t>
            </a:r>
          </a:p>
        </p:txBody>
      </p:sp>
    </p:spTree>
    <p:extLst>
      <p:ext uri="{BB962C8B-B14F-4D97-AF65-F5344CB8AC3E}">
        <p14:creationId xmlns:p14="http://schemas.microsoft.com/office/powerpoint/2010/main" val="34283207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640080"/>
            <a:ext cx="10823078" cy="560831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753358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2044</TotalTime>
  <Words>1026</Words>
  <Application>Microsoft Office PowerPoint</Application>
  <PresentationFormat>Widescreen</PresentationFormat>
  <Paragraphs>112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</vt:lpstr>
      <vt:lpstr>Century Gothic</vt:lpstr>
      <vt:lpstr>Times New Roman</vt:lpstr>
      <vt:lpstr>Wingdings</vt:lpstr>
      <vt:lpstr>Wingdings 3</vt:lpstr>
      <vt:lpstr>Ion</vt:lpstr>
      <vt:lpstr>Project-3  Retail Large Dataset Analysis  NextHikes Solutions By - Rakshit A Solanki</vt:lpstr>
      <vt:lpstr>Project Overview</vt:lpstr>
      <vt:lpstr>Project Objective</vt:lpstr>
      <vt:lpstr>Data Cleaning</vt:lpstr>
      <vt:lpstr>Univariate Analysis</vt:lpstr>
      <vt:lpstr>Univariate Analysis</vt:lpstr>
      <vt:lpstr>Univariate Analysis</vt:lpstr>
      <vt:lpstr>Bivariate Analysis</vt:lpstr>
      <vt:lpstr>Bivariate Analysis</vt:lpstr>
      <vt:lpstr>Multivariate Analysis</vt:lpstr>
      <vt:lpstr>Skewness &amp; Kurtosis</vt:lpstr>
      <vt:lpstr>Key Observation</vt:lpstr>
      <vt:lpstr>Business Insights</vt:lpstr>
      <vt:lpstr>Challenges Faced During Analysis Data</vt:lpstr>
      <vt:lpstr>Conclusion</vt:lpstr>
      <vt:lpstr>Reference Links Used For Learn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Chandni Solanki</cp:lastModifiedBy>
  <cp:revision>35</cp:revision>
  <dcterms:created xsi:type="dcterms:W3CDTF">2026-01-20T15:13:12Z</dcterms:created>
  <dcterms:modified xsi:type="dcterms:W3CDTF">2026-03-23T17:42:40Z</dcterms:modified>
</cp:coreProperties>
</file>